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45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CO1 ASSESSMENT TOOL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516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Applications in Agriculture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164178"/>
            <a:ext cx="404165" cy="4041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3977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camera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618" y="4164178"/>
            <a:ext cx="404165" cy="4041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3977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icons/robo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738" y="4164178"/>
            <a:ext cx="404165" cy="40416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03320" y="3977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icons/satellit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9858" y="4164178"/>
            <a:ext cx="404165" cy="40416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6301A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61081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ITA0512 — Computer Vision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D637BB-CF02-1F0A-C12F-A852301FFE14}"/>
              </a:ext>
            </a:extLst>
          </p:cNvPr>
          <p:cNvSpPr txBox="1"/>
          <p:nvPr/>
        </p:nvSpPr>
        <p:spPr>
          <a:xfrm>
            <a:off x="8880388" y="4899734"/>
            <a:ext cx="2627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9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</a:p>
          <a:p>
            <a:r>
              <a:rPr lang="en-US" dirty="0">
                <a:solidFill>
                  <a:srgbClr val="C9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Charan Kumar Reddy</a:t>
            </a:r>
          </a:p>
          <a:p>
            <a:r>
              <a:rPr lang="en-US" dirty="0">
                <a:solidFill>
                  <a:srgbClr val="C9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192472195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Agriculture Needs Computer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9047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field scouting  —  </a:t>
            </a: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inspection of crops, pests, and soil is slow, inconsistent, and cannot scale to large farms.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4203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food demand  —  </a:t>
            </a: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food production must rise sharply in coming decades, while arable land and farm labor are shrinking.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935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 cost yield  —  </a:t>
            </a: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weeds, or water stress are often noticed only after visible damage — losses are already locked 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4515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Data-rich, low-cost sensing  —  </a:t>
            </a: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phone cameras, and satellites now make continuous visual data cheap to capture across a farm.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6002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7012" y="178308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686" y="1914754"/>
            <a:ext cx="321869" cy="32186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2376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360920" y="2926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food output needed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(FAO estimate)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784080" y="16002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657332" y="178308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1" descr="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006" y="1914754"/>
            <a:ext cx="321869" cy="3218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8408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921240" y="29260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crop yield lost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pests &amp; disease yearly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223760" y="379476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97012" y="39776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2" descr="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686" y="4109314"/>
            <a:ext cx="321869" cy="32186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23760" y="4663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360920" y="51206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visual monitoring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cameras &amp; drones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784080" y="379476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2F5F0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657332" y="397764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3" descr="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006" y="4109314"/>
            <a:ext cx="321869" cy="32186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84080" y="4663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cm-level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9921240" y="51206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achievable with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drone/satellite imaging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ITA0512 · Computer Vision  |  CO1 Assessment Tool 3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Disease &amp; Pest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9F0E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6" name="Image 0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653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spot leaf spots, blight, or pest damage only after infection has spread, since manual scouting covers a tiny fraction of large fields each day.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2F5F0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649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53" y="3470605"/>
            <a:ext cx="291694" cy="291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101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361188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leaf images via smartphone or UAV camera in the field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(e.g., ResNet/MobileNet via transfer learning) on labelled disease datasets such as PlantVillage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leaf image and localize the affected region with Grad-CAM visual heatmaps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 instant alert with a treatment recommendation to the farmer's app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Detection Pipeline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2148840"/>
            <a:ext cx="1143000" cy="1417320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79108" y="231343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cons/camera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322" y="2428646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9260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406640" y="25603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790688" y="2148840"/>
            <a:ext cx="1143000" cy="1417320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06156" y="231343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icons/chip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70" y="2428646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4968" y="29260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933688" y="25603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317736" y="2148840"/>
            <a:ext cx="1143000" cy="1417320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33204" y="231343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icons/brai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418" y="2428646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29260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0460736" y="256032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10844784" y="2148840"/>
            <a:ext cx="1143000" cy="1417320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1160252" y="231343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5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5466" y="242864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799064" y="29260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26364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2C5F2D"/>
          </a:solidFill>
          <a:ln/>
        </p:spPr>
      </p:sp>
      <p:sp>
        <p:nvSpPr>
          <p:cNvPr id="34" name="Text 26"/>
          <p:cNvSpPr/>
          <p:nvPr/>
        </p:nvSpPr>
        <p:spPr>
          <a:xfrm>
            <a:off x="6492240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Tools &amp; Tech Stack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92240" y="4370832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· CNN transfer learning (ResNet50, MobileNetV2)</a:t>
            </a:r>
            <a:endParaRPr lang="en-US" sz="11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&amp; field-collected labelled leaf datasets</a:t>
            </a:r>
            <a:endParaRPr lang="en-US" sz="11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for image pre-processing &amp; augmentation</a:t>
            </a:r>
            <a:endParaRPr lang="en-US" sz="11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 for farmer-facing alerts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ITA0512 · Computer Vision  |  CO1 Assessment Tool 3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Weed Detection &amp; Precision Spraying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9F0E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6" name="Image 0" descr="icons/sp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herbicide spraying treats entire fields uniformly — wasting chemicals, raising cost, and harming soil health, since weeds are scattered unevenly among crop rows.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BEAE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0632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✖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Herbicide sprayed uniformly over full field</a:t>
            </a:r>
            <a:endParaRPr lang="en-US" sz="13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✖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chemical cost &amp; runoff pollution</a:t>
            </a:r>
            <a:endParaRPr lang="en-US" sz="13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✖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distinction between crop and weed</a:t>
            </a:r>
            <a:endParaRPr lang="en-US" sz="13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✖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Weeding labor is slow and manual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803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2F5F0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30632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SOLUTION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3474720"/>
            <a:ext cx="4800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✔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(YOLOv8) on a camera-equipped sprayer boom classifies crop vs. weed per frame</a:t>
            </a:r>
            <a:endParaRPr lang="en-US" sz="12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✔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weed coordinates trigger targeted nozzle actuation within milliseconds</a:t>
            </a:r>
            <a:endParaRPr lang="en-US" sz="12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✔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Herbicide use cut drastically — sprayed only where weeds exist</a:t>
            </a:r>
            <a:endParaRPr lang="en-US" sz="12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✔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 embedded GPU (e.g., NVIDIA Jetson) mounted on tractor or drone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12080" y="2990088"/>
            <a:ext cx="457200" cy="45720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15" name="Image 1" descr="icons/sp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3092958"/>
            <a:ext cx="251460" cy="2514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927080" y="29900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icons/precisio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950" y="309295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ITA0512 · Computer Vision  |  CO1 Assessment Tool 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 Classification &amp; Robotic Harvest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9F0E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6" name="Image 0" descr="icons/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8779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yield estimates are rough guesses, and hand-harvesting is labour-intensive with a narrow ripeness window — delays mean fruit is picked too early or spoils on the vine.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5F0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63931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53" y="3744925"/>
            <a:ext cx="291694" cy="291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5844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38862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count fruit per tree using instance segmentation (Mask R-CNN / YOLO-seg)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ripeness from colour, size, and texture cues to forecast the harvest window</a:t>
            </a:r>
            <a:endParaRPr lang="en-US" sz="12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 robotic arm with stereo-depth cameras to pick only ripe fruit precisely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Detection-to-Harvest Workflow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20574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icons/camera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199" y="218495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19842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imaging
</a:t>
            </a: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depth camera scans rows via drone or ground robot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47104" y="2624328"/>
            <a:ext cx="0" cy="457200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6263640" y="308152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icons/brain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199" y="3209087"/>
            <a:ext cx="311810" cy="3118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300837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count
</a:t>
            </a: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segments each fruit; tallies yield per tree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547104" y="3648456"/>
            <a:ext cx="0" cy="457200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6263640" y="410565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4" descr="icons/chart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199" y="4233215"/>
            <a:ext cx="311810" cy="3118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403250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Ripeness scoring
</a:t>
            </a: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Colour/size analysis predicts optimal picking date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547104" y="4672584"/>
            <a:ext cx="0" cy="457200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6263640" y="512978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5" descr="icons/robo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199" y="5257343"/>
            <a:ext cx="311810" cy="3118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95160" y="505663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picking
</a:t>
            </a: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 plans grasp and harvests selectively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ITA0512 · Computer Vision  |  CO1 Assessment Tool 3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&amp; Crop Health Monitoring via Remote Sensing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9F0E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B23A2F"/>
          </a:solidFill>
          <a:ln/>
        </p:spPr>
      </p:sp>
      <p:pic>
        <p:nvPicPr>
          <p:cNvPr id="6" name="Image 0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8779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stress, nutrient deficiency, or soil degradation spread across large fields unnoticed until visible wilting appears — by then, yield loss is already underway.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5F0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6499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icons/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3478149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101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361188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Drones/satellites capture multispectral imagery across the field on a set schedule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vegetation indices (e.g., NDVI) pixel-by-pixel to flag stressed zones</a:t>
            </a:r>
            <a:endParaRPr lang="en-US" sz="120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results on a GIS map to trigger targeted irrigation or fertilizer response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4983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NDVI Health Map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349240"/>
            <a:ext cx="1078992" cy="320040"/>
          </a:xfrm>
          <a:prstGeom prst="rect">
            <a:avLst/>
          </a:prstGeom>
          <a:solidFill>
            <a:srgbClr val="B23A2F"/>
          </a:solidFill>
          <a:ln/>
        </p:spPr>
      </p:sp>
      <p:sp>
        <p:nvSpPr>
          <p:cNvPr id="15" name="Shape 11"/>
          <p:cNvSpPr/>
          <p:nvPr/>
        </p:nvSpPr>
        <p:spPr>
          <a:xfrm>
            <a:off x="1627632" y="5349240"/>
            <a:ext cx="1078992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Shape 12"/>
          <p:cNvSpPr/>
          <p:nvPr/>
        </p:nvSpPr>
        <p:spPr>
          <a:xfrm>
            <a:off x="2706624" y="5349240"/>
            <a:ext cx="1078992" cy="320040"/>
          </a:xfrm>
          <a:prstGeom prst="rect">
            <a:avLst/>
          </a:prstGeom>
          <a:solidFill>
            <a:srgbClr val="D7DE6B"/>
          </a:solidFill>
          <a:ln/>
        </p:spPr>
      </p:sp>
      <p:sp>
        <p:nvSpPr>
          <p:cNvPr id="17" name="Shape 13"/>
          <p:cNvSpPr/>
          <p:nvPr/>
        </p:nvSpPr>
        <p:spPr>
          <a:xfrm>
            <a:off x="3785616" y="5349240"/>
            <a:ext cx="1078992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Shape 14"/>
          <p:cNvSpPr/>
          <p:nvPr/>
        </p:nvSpPr>
        <p:spPr>
          <a:xfrm>
            <a:off x="4864608" y="5349240"/>
            <a:ext cx="107899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" y="5715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vegetation health (stressed)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00400" y="5715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vegetation health (thriving)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63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2C5F2D"/>
          </a:solidFill>
          <a:ln/>
        </p:spPr>
      </p:sp>
      <p:sp>
        <p:nvSpPr>
          <p:cNvPr id="22" name="Text 18"/>
          <p:cNvSpPr/>
          <p:nvPr/>
        </p:nvSpPr>
        <p:spPr>
          <a:xfrm>
            <a:off x="6537960" y="17373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Tools &amp; Technology Stack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3796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icons/chip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2399157"/>
            <a:ext cx="276606" cy="27660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23760" y="22402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Hardware
</a:t>
            </a:r>
            <a:r>
              <a:rPr lang="en-US" sz="1100" dirty="0">
                <a:solidFill>
                  <a:srgbClr val="D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multispectral &amp; depth cameras · UAV drones · satellite feeds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537960" y="31272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icons/brain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117" y="3240405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0815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
</a:t>
            </a:r>
            <a:r>
              <a:rPr lang="en-US" sz="1100" dirty="0">
                <a:solidFill>
                  <a:srgbClr val="D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(ResNet/MobileNet), YOLOv8 detection, Mask R-CNN segmentation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537960" y="39684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icons/precision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117" y="4081653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0" y="392277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
</a:t>
            </a:r>
            <a:r>
              <a:rPr lang="en-US" sz="1100" dirty="0">
                <a:solidFill>
                  <a:srgbClr val="D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PyTorch, OpenCV, Roboflow for dataset &amp; pipeline ops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537960" y="480974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icons/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1117" y="4922901"/>
            <a:ext cx="276606" cy="27660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476402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Ops
</a:t>
            </a:r>
            <a:r>
              <a:rPr lang="en-US" sz="1100" dirty="0">
                <a:solidFill>
                  <a:srgbClr val="D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GIS/NDVI mapping, cloud dashboards, robotic actuation &amp; mobile alerts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ITA0512 · Computer Vision  |  CO1 Assessment Tool 3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0" name="Image 2" descr="icons/chip_dark.png">
            <a:extLst>
              <a:ext uri="{FF2B5EF4-FFF2-40B4-BE49-F238E27FC236}">
                <a16:creationId xmlns:a16="http://schemas.microsoft.com/office/drawing/2014/main" id="{91FD567C-B078-0F95-951D-3A77BCF5C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343" y="4069180"/>
            <a:ext cx="276606" cy="276606"/>
          </a:xfrm>
          <a:prstGeom prst="rect">
            <a:avLst/>
          </a:prstGeom>
        </p:spPr>
      </p:pic>
      <p:pic>
        <p:nvPicPr>
          <p:cNvPr id="42" name="Image 0" descr="icons/chart.png">
            <a:extLst>
              <a:ext uri="{FF2B5EF4-FFF2-40B4-BE49-F238E27FC236}">
                <a16:creationId xmlns:a16="http://schemas.microsoft.com/office/drawing/2014/main" id="{8D896F88-7089-CAAE-84E5-02C04F4C52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8485" y="4879242"/>
            <a:ext cx="321869" cy="321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164363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in Agriculture  |  ITA0512  |  CO1 Assessment Tool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3969CB-6308-0165-5768-3F2B97E95727}"/>
              </a:ext>
            </a:extLst>
          </p:cNvPr>
          <p:cNvSpPr txBox="1"/>
          <p:nvPr/>
        </p:nvSpPr>
        <p:spPr>
          <a:xfrm>
            <a:off x="457200" y="256674"/>
            <a:ext cx="332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Geotag Photo: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5E283-CF42-C51F-3E68-9752C743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5" t="5783"/>
          <a:stretch>
            <a:fillRect/>
          </a:stretch>
        </p:blipFill>
        <p:spPr>
          <a:xfrm>
            <a:off x="1094874" y="786062"/>
            <a:ext cx="10002252" cy="581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36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825</Words>
  <Application>Microsoft Office PowerPoint</Application>
  <PresentationFormat>Widescreen</PresentationFormat>
  <Paragraphs>110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Charan Kumar Reddy</cp:lastModifiedBy>
  <cp:revision>7</cp:revision>
  <dcterms:created xsi:type="dcterms:W3CDTF">2026-07-23T09:10:37Z</dcterms:created>
  <dcterms:modified xsi:type="dcterms:W3CDTF">2026-07-29T04:38:42Z</dcterms:modified>
</cp:coreProperties>
</file>